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E4A7B"/>
                </a:solidFill>
                <a:latin typeface="Times New Roman"/>
              </a:defRPr>
            </a:pPr>
            <a:r>
              <a:t>SMART INDIA HACKATHON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>
                <a:solidFill>
                  <a:srgbClr val="0E1E36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950">
                <a:solidFill>
                  <a:srgbClr val="0E4A7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b="1" sz="950">
                <a:solidFill>
                  <a:srgbClr val="0E1E36"/>
                </a:solidFill>
                <a:latin typeface="Arial"/>
              </a:defRPr>
            </a:pPr>
            <a:r>
              <a:t>HACKATHON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554480"/>
            <a:ext cx="3931920" cy="457200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73736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500">
                <a:solidFill>
                  <a:srgbClr val="0E4A7B"/>
                </a:solidFill>
                <a:latin typeface="Arial"/>
              </a:defRPr>
            </a:pPr>
            <a:r>
              <a:t>MAUSAM DECISION ENGINE</a:t>
            </a:r>
          </a:p>
          <a:p>
            <a:pPr algn="ctr">
              <a:spcBef>
                <a:spcPts val="600"/>
              </a:spcBef>
              <a:defRPr b="1" sz="1100">
                <a:solidFill>
                  <a:srgbClr val="0E1E36"/>
                </a:solidFill>
                <a:latin typeface="Arial"/>
              </a:defRPr>
            </a:pPr>
            <a:r>
              <a:t>Personalized Weather Intelligence</a:t>
            </a:r>
          </a:p>
          <a:p>
            <a:pPr>
              <a:spcBef>
                <a:spcPts val="1800"/>
              </a:spcBef>
              <a:defRPr sz="1050">
                <a:solidFill>
                  <a:srgbClr val="555F6E"/>
                </a:solidFill>
                <a:latin typeface="Arial"/>
              </a:defRPr>
            </a:pPr>
            <a:r>
              <a:t>• 9 Multi-Persona Engines</a:t>
            </a:r>
            <a:br/>
            <a:r>
              <a:t>• 49 Dynamic Scoring Widgets</a:t>
            </a:r>
            <a:br/>
            <a:r>
              <a:t>• 2-Tier Scientific WBGT Model</a:t>
            </a:r>
            <a:br/>
            <a:r>
              <a:t>• Space-Time Route Checkpoints</a:t>
            </a:r>
            <a:br/>
            <a:r>
              <a:t>• IMD Critical Safety Override</a:t>
            </a:r>
            <a:br/>
            <a:r>
              <a:t>• Full English &amp; Hindi i18n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0E1E36"/>
                </a:solidFill>
                <a:latin typeface="Arial"/>
              </a:defRPr>
            </a:pPr>
            <a:r>
              <a:t>• Problem Statement ID –</a:t>
            </a:r>
          </a:p>
          <a:p>
            <a:pPr>
              <a:spcBef>
                <a:spcPts val="200"/>
              </a:spcBef>
              <a:defRPr b="1" sz="1250">
                <a:solidFill>
                  <a:srgbClr val="0E4A7B"/>
                </a:solidFill>
                <a:latin typeface="Arial"/>
              </a:defRPr>
            </a:pPr>
            <a:r>
              <a:t>  SIH1736</a:t>
            </a:r>
          </a:p>
          <a:p>
            <a:pPr>
              <a:spcBef>
                <a:spcPts val="1000"/>
              </a:spcBef>
              <a:defRPr b="1" sz="1350">
                <a:solidFill>
                  <a:srgbClr val="0E1E36"/>
                </a:solidFill>
                <a:latin typeface="Arial"/>
              </a:defRPr>
            </a:pPr>
            <a:r>
              <a:t>• Problem Statement Title-</a:t>
            </a:r>
          </a:p>
          <a:p>
            <a:pPr>
              <a:spcBef>
                <a:spcPts val="200"/>
              </a:spcBef>
              <a:defRPr b="1" sz="1250">
                <a:solidFill>
                  <a:srgbClr val="141821"/>
                </a:solidFill>
                <a:latin typeface="Arial"/>
              </a:defRPr>
            </a:pPr>
            <a:r>
              <a:t>  Development of personalized homepage for MAUSAM mobile application</a:t>
            </a:r>
          </a:p>
          <a:p>
            <a:pPr>
              <a:spcBef>
                <a:spcPts val="1000"/>
              </a:spcBef>
              <a:defRPr b="1" sz="1350">
                <a:solidFill>
                  <a:srgbClr val="0E1E36"/>
                </a:solidFill>
                <a:latin typeface="Arial"/>
              </a:defRPr>
            </a:pPr>
            <a:r>
              <a:t>• Theme-</a:t>
            </a:r>
          </a:p>
          <a:p>
            <a:pPr>
              <a:spcBef>
                <a:spcPts val="200"/>
              </a:spcBef>
              <a:defRPr b="1" sz="1250">
                <a:solidFill>
                  <a:srgbClr val="141821"/>
                </a:solidFill>
                <a:latin typeface="Arial"/>
              </a:defRPr>
            </a:pPr>
            <a:r>
              <a:t>  Smart Communication &amp; Adaptive Weather Technologies</a:t>
            </a:r>
          </a:p>
          <a:p>
            <a:pPr>
              <a:spcBef>
                <a:spcPts val="1000"/>
              </a:spcBef>
              <a:defRPr b="1" sz="1350">
                <a:solidFill>
                  <a:srgbClr val="0E1E36"/>
                </a:solidFill>
                <a:latin typeface="Arial"/>
              </a:defRPr>
            </a:pPr>
            <a:r>
              <a:t>• PS Category-</a:t>
            </a:r>
          </a:p>
          <a:p>
            <a:pPr>
              <a:spcBef>
                <a:spcPts val="200"/>
              </a:spcBef>
              <a:defRPr b="1" sz="1250">
                <a:solidFill>
                  <a:srgbClr val="141821"/>
                </a:solidFill>
                <a:latin typeface="Arial"/>
              </a:defRPr>
            </a:pPr>
            <a:r>
              <a:t>  Software</a:t>
            </a:r>
          </a:p>
          <a:p>
            <a:pPr>
              <a:spcBef>
                <a:spcPts val="1000"/>
              </a:spcBef>
              <a:defRPr b="1" sz="1350">
                <a:solidFill>
                  <a:srgbClr val="0E1E36"/>
                </a:solidFill>
                <a:latin typeface="Arial"/>
              </a:defRPr>
            </a:pPr>
            <a:r>
              <a:t>• Team ID-</a:t>
            </a:r>
          </a:p>
          <a:p>
            <a:pPr>
              <a:spcBef>
                <a:spcPts val="200"/>
              </a:spcBef>
              <a:defRPr b="1" sz="1250">
                <a:solidFill>
                  <a:srgbClr val="0E4A7B"/>
                </a:solidFill>
                <a:latin typeface="Arial"/>
              </a:defRPr>
            </a:pPr>
            <a:r>
              <a:t>  SIH2025-TEAM-4112</a:t>
            </a:r>
          </a:p>
          <a:p>
            <a:pPr>
              <a:spcBef>
                <a:spcPts val="1000"/>
              </a:spcBef>
              <a:defRPr b="1" sz="1350">
                <a:solidFill>
                  <a:srgbClr val="0E1E36"/>
                </a:solidFill>
                <a:latin typeface="Arial"/>
              </a:defRPr>
            </a:pPr>
            <a:r>
              <a:t>• Team Name (Registered on portal)-</a:t>
            </a:r>
          </a:p>
          <a:p>
            <a:pPr>
              <a:spcBef>
                <a:spcPts val="200"/>
              </a:spcBef>
              <a:defRPr b="1" sz="1250">
                <a:solidFill>
                  <a:srgbClr val="0E4A7B"/>
                </a:solidFill>
                <a:latin typeface="Arial"/>
              </a:defRPr>
            </a:pPr>
            <a:r>
              <a:t>  AlphaStream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E1E36"/>
                </a:solidFill>
                <a:latin typeface="Arial"/>
              </a:defRPr>
            </a:pPr>
            <a:r>
              <a:t>AlphaStream</a:t>
            </a:r>
            <a:br/>
            <a:r>
              <a:t>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E1E36"/>
                </a:solidFill>
                <a:latin typeface="Times New Roman"/>
              </a:defRPr>
            </a:pPr>
            <a:r>
              <a:t>MAUSAM DECISION ENGINE: PERSONALIZED WEATHER ASSISTANT</a:t>
            </a:r>
          </a:p>
          <a:p>
            <a:pPr algn="ctr">
              <a:spcBef>
                <a:spcPts val="200"/>
              </a:spcBef>
              <a:defRPr b="1" sz="1050">
                <a:solidFill>
                  <a:srgbClr val="BA2626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950">
                <a:solidFill>
                  <a:srgbClr val="0E4A7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b="1" sz="950">
                <a:solidFill>
                  <a:srgbClr val="0E1E36"/>
                </a:solidFill>
                <a:latin typeface="Arial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E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2881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212080" cy="502920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BA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BA2626"/>
                </a:solidFill>
                <a:latin typeface="Arial"/>
              </a:defRPr>
            </a:pPr>
            <a:r>
              <a:t>THE HIDDEN PAIN POINT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Arial"/>
              </a:defRPr>
            </a:pPr>
            <a:r>
              <a:t>Users suffer from severe cognitive fatigue when interpreting raw weather parameters (temperature, humidity, wind, UV) to plan outdoor actions. They must do complex risk calculations manually.</a:t>
            </a:r>
            <a:br/>
            <a:br/>
            <a:r>
              <a:t>Our solution converts raw weather telemetry into immediate, personalized decisions.</a:t>
            </a:r>
          </a:p>
          <a:p>
            <a:pPr>
              <a:spcBef>
                <a:spcPts val="1400"/>
              </a:spcBef>
              <a:defRPr b="1" sz="1150">
                <a:solidFill>
                  <a:srgbClr val="0E4A7B"/>
                </a:solidFill>
                <a:latin typeface="Arial"/>
              </a:defRPr>
            </a:pPr>
            <a:r>
              <a:t>Context-Aware Intelligence Flow:</a:t>
            </a:r>
          </a:p>
          <a:p>
            <a:pPr>
              <a:spcBef>
                <a:spcPts val="400"/>
              </a:spcBef>
              <a:defRPr b="1" sz="1050">
                <a:solidFill>
                  <a:srgbClr val="0E1E36"/>
                </a:solidFill>
                <a:latin typeface="Arial"/>
              </a:defRPr>
            </a:pPr>
            <a:r>
              <a:t>Weather Data ➔ User Context ➔ Personalization ➔ Decision ➔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34440"/>
            <a:ext cx="5577840" cy="5029200"/>
          </a:xfrm>
          <a:prstGeom prst="roundRect">
            <a:avLst/>
          </a:prstGeom>
          <a:solidFill>
            <a:srgbClr val="0E1E36"/>
          </a:solidFill>
          <a:ln>
            <a:solidFill>
              <a:srgbClr val="0E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93C5FD"/>
                </a:solidFill>
                <a:latin typeface="Arial"/>
              </a:defRPr>
            </a:pPr>
            <a:r>
              <a:t>DETAILED EXPLANATION &amp; INNOVATION</a:t>
            </a:r>
          </a:p>
          <a:p>
            <a:pPr>
              <a:spcBef>
                <a:spcPts val="1000"/>
              </a:spcBef>
              <a:defRPr b="1" sz="1200">
                <a:solidFill>
                  <a:srgbClr val="FDE68A"/>
                </a:solidFill>
                <a:latin typeface="Arial"/>
              </a:defRPr>
            </a:pPr>
            <a:r>
              <a:t>• Core Novel Features:</a:t>
            </a:r>
          </a:p>
          <a:p>
            <a:pPr>
              <a:spcBef>
                <a:spcPts val="600"/>
              </a:spcBef>
              <a:defRPr b="1" sz="1000">
                <a:solidFill>
                  <a:srgbClr val="FDE68A"/>
                </a:solidFill>
                <a:latin typeface="Arial"/>
              </a:defRPr>
            </a:pPr>
            <a:r>
              <a:t>- Dynamic Homepage: </a:t>
            </a:r>
          </a:p>
          <a:p>
            <a:pPr>
              <a:spcBef>
                <a:spcPts val="1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  Relevance scoring algorithm re-prioritizes home page widgets in real-time.</a:t>
            </a:r>
          </a:p>
          <a:p>
            <a:pPr>
              <a:spcBef>
                <a:spcPts val="600"/>
              </a:spcBef>
              <a:defRPr b="1" sz="1000">
                <a:solidFill>
                  <a:srgbClr val="FDE68A"/>
                </a:solidFill>
                <a:latin typeface="Arial"/>
              </a:defRPr>
            </a:pPr>
            <a:r>
              <a:t>- Personalization Engine: </a:t>
            </a:r>
          </a:p>
          <a:p>
            <a:pPr>
              <a:spcBef>
                <a:spcPts val="1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  Combines User Persona (Sportsperson, Senior Citizen, Farmer, Commuter) + Activity + Location Purpose.</a:t>
            </a:r>
          </a:p>
          <a:p>
            <a:pPr>
              <a:spcBef>
                <a:spcPts val="600"/>
              </a:spcBef>
              <a:defRPr b="1" sz="1000">
                <a:solidFill>
                  <a:srgbClr val="FDE68A"/>
                </a:solidFill>
                <a:latin typeface="Arial"/>
              </a:defRPr>
            </a:pPr>
            <a:r>
              <a:t>- Safety Override: </a:t>
            </a:r>
          </a:p>
          <a:p>
            <a:pPr>
              <a:spcBef>
                <a:spcPts val="1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  Extreme alerts (heavy rain, lightning) instantly bypass personalization and lock to the top.</a:t>
            </a:r>
          </a:p>
          <a:p>
            <a:pPr>
              <a:spcBef>
                <a:spcPts val="600"/>
              </a:spcBef>
              <a:defRPr b="1" sz="1000">
                <a:solidFill>
                  <a:srgbClr val="FDE68A"/>
                </a:solidFill>
                <a:latin typeface="Arial"/>
              </a:defRPr>
            </a:pPr>
            <a:r>
              <a:t>- Route Weather Intelligence: </a:t>
            </a:r>
          </a:p>
          <a:p>
            <a:pPr>
              <a:spcBef>
                <a:spcPts val="1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  Calculates space-time checkpoints with temporal forecast interpolation.</a:t>
            </a:r>
          </a:p>
          <a:p>
            <a:pPr>
              <a:spcBef>
                <a:spcPts val="600"/>
              </a:spcBef>
              <a:defRPr b="1" sz="1000">
                <a:solidFill>
                  <a:srgbClr val="FDE68A"/>
                </a:solidFill>
                <a:latin typeface="Arial"/>
              </a:defRPr>
            </a:pPr>
            <a:r>
              <a:t>- Bilingual &amp; Voice Assistant: </a:t>
            </a:r>
          </a:p>
          <a:p>
            <a:pPr>
              <a:spcBef>
                <a:spcPts val="1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  Full English/Hindi localization with deterministic voice chatbot.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E1E36"/>
                </a:solidFill>
                <a:latin typeface="Arial"/>
              </a:defRPr>
            </a:pPr>
            <a:r>
              <a:t>AlphaStream</a:t>
            </a:r>
            <a:br/>
            <a:r>
              <a:t>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E1E36"/>
                </a:solidFill>
                <a:latin typeface="Times New Roman"/>
              </a:defRPr>
            </a:pPr>
            <a:r>
              <a:t>ROBUST 3-LAYER DECISION ENGINE &amp; SCIENTIFIC WBGT MODEL</a:t>
            </a:r>
          </a:p>
          <a:p>
            <a:pPr algn="ctr">
              <a:spcBef>
                <a:spcPts val="200"/>
              </a:spcBef>
              <a:defRPr b="1" sz="1050">
                <a:solidFill>
                  <a:srgbClr val="BA2626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950">
                <a:solidFill>
                  <a:srgbClr val="0E4A7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b="1" sz="950">
                <a:solidFill>
                  <a:srgbClr val="0E1E36"/>
                </a:solidFill>
                <a:latin typeface="Arial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E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2881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566160" cy="2377440"/>
          </a:xfrm>
          <a:prstGeom prst="roundRect">
            <a:avLst/>
          </a:prstGeom>
          <a:solidFill>
            <a:srgbClr val="0E4A7B"/>
          </a:solidFill>
          <a:ln w="19050">
            <a:solidFill>
              <a:srgbClr val="0E4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50">
                <a:solidFill>
                  <a:srgbClr val="FFFFFF"/>
                </a:solidFill>
                <a:latin typeface="Arial"/>
              </a:defRPr>
            </a:pPr>
            <a:r>
              <a:t>1. DATA / INTEGRATION</a:t>
            </a:r>
          </a:p>
          <a:p>
            <a:pPr>
              <a:spcBef>
                <a:spcPts val="6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IMD APIs (Weather, Alerts, UV) + Mobile Sensor (GPS, Time) ➔ Normalization pipeline (weatherNormalizer.js). Coordinate caching for instant offline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566160" cy="2377440"/>
          </a:xfrm>
          <a:prstGeom prst="roundRect">
            <a:avLst/>
          </a:prstGeom>
          <a:solidFill>
            <a:srgbClr val="0E1E36"/>
          </a:solidFill>
          <a:ln w="19050">
            <a:solidFill>
              <a:srgbClr val="0E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50">
                <a:solidFill>
                  <a:srgbClr val="FDE68A"/>
                </a:solidFill>
                <a:latin typeface="Arial"/>
              </a:defRPr>
            </a:pPr>
            <a:r>
              <a:t>2. INTELLIGENCE ENGINE</a:t>
            </a:r>
          </a:p>
          <a:p>
            <a:pPr>
              <a:spcBef>
                <a:spcPts val="6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Derives persona context &amp; runs explainable rule-based heuristics. Dynamic relevance scoring (100-pt formula). Calculates scientific WBGT index.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34440"/>
            <a:ext cx="3566160" cy="2377440"/>
          </a:xfrm>
          <a:prstGeom prst="roundRect">
            <a:avLst/>
          </a:prstGeom>
          <a:solidFill>
            <a:srgbClr val="0F6E56"/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3258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50">
                <a:solidFill>
                  <a:srgbClr val="FFFFFF"/>
                </a:solidFill>
                <a:latin typeface="Arial"/>
              </a:defRPr>
            </a:pPr>
            <a:r>
              <a:t>3. PRESENTATION LAYER</a:t>
            </a:r>
          </a:p>
          <a:p>
            <a:pPr>
              <a:spcBef>
                <a:spcPts val="6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Highly dynamic React 18 / Vite / Mobile UI re-ordering homepage widgets &amp; displaying tailored safety recommendations with full Hindi &amp; English i18n.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39"/>
            <a:ext cx="10972800" cy="256032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1E36"/>
                </a:solidFill>
                <a:latin typeface="Arial"/>
              </a:defRPr>
            </a:pPr>
            <a:r>
              <a:t>SPORTSPERSON CASE STUDY: SCIENTIFIC HEAT RISK ASSESSMENT</a:t>
            </a:r>
          </a:p>
          <a:p>
            <a:pPr>
              <a:spcBef>
                <a:spcPts val="400"/>
              </a:spcBef>
              <a:defRPr b="1" sz="1050">
                <a:solidFill>
                  <a:srgbClr val="0E4A7B"/>
                </a:solidFill>
                <a:latin typeface="Arial"/>
              </a:defRPr>
            </a:pPr>
            <a:r>
              <a:t>• Atmospheric Inputs:</a:t>
            </a:r>
          </a:p>
          <a:p>
            <a:pPr>
              <a:spcBef>
                <a:spcPts val="100"/>
              </a:spcBef>
              <a:defRPr sz="950">
                <a:solidFill>
                  <a:srgbClr val="141821"/>
                </a:solidFill>
                <a:latin typeface="Arial"/>
              </a:defRPr>
            </a:pPr>
            <a:r>
              <a:t>Temperature (Ta) + Humidity (RH) + UV Index + Wind Speed (u).</a:t>
            </a:r>
          </a:p>
          <a:p>
            <a:pPr>
              <a:spcBef>
                <a:spcPts val="400"/>
              </a:spcBef>
              <a:defRPr b="1" sz="1050">
                <a:solidFill>
                  <a:srgbClr val="0E4A7B"/>
                </a:solidFill>
                <a:latin typeface="Arial"/>
              </a:defRPr>
            </a:pPr>
            <a:r>
              <a:t>• Scientific WBGT Calculation (BOM Empirical Model):</a:t>
            </a:r>
          </a:p>
          <a:p>
            <a:pPr>
              <a:spcBef>
                <a:spcPts val="100"/>
              </a:spcBef>
              <a:defRPr sz="950">
                <a:solidFill>
                  <a:srgbClr val="141821"/>
                </a:solidFill>
                <a:latin typeface="Arial"/>
              </a:defRPr>
            </a:pPr>
            <a:r>
              <a:t>WBGT ≈ 0.567 × Ta + 3.94 + 0.393 × e</a:t>
            </a:r>
            <a:br/>
            <a:r>
              <a:t>(where e = Vapor Pressure = RH/100 × 6.105 × exp[17.27 × Ta / (237.7 + Ta)])</a:t>
            </a:r>
          </a:p>
          <a:p>
            <a:pPr>
              <a:spcBef>
                <a:spcPts val="400"/>
              </a:spcBef>
              <a:defRPr b="1" sz="1050">
                <a:solidFill>
                  <a:srgbClr val="0E4A7B"/>
                </a:solidFill>
                <a:latin typeface="Arial"/>
              </a:defRPr>
            </a:pPr>
            <a:r>
              <a:t>• Decision &amp; Safe Recommendation:</a:t>
            </a:r>
          </a:p>
          <a:p>
            <a:pPr>
              <a:spcBef>
                <a:spcPts val="100"/>
              </a:spcBef>
              <a:defRPr sz="950">
                <a:solidFill>
                  <a:srgbClr val="141821"/>
                </a:solidFill>
                <a:latin typeface="Arial"/>
              </a:defRPr>
            </a:pPr>
            <a:r>
              <a:t>If estimated WBGT &gt; 28°C (High Risk) ➔ UI recommends shifting football/sports practice to late evening and triggers direct dehydration-prevention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E1E36"/>
                </a:solidFill>
                <a:latin typeface="Arial"/>
              </a:defRPr>
            </a:pPr>
            <a:r>
              <a:t>AlphaStream</a:t>
            </a:r>
            <a:br/>
            <a:r>
              <a:t>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E1E36"/>
                </a:solidFill>
                <a:latin typeface="Times New Roman"/>
              </a:defRPr>
            </a:pPr>
            <a:r>
              <a:t>REAL-WORLD FEASIBILITY, CHALLENGES &amp; TECHNICAL ROADMAP</a:t>
            </a:r>
          </a:p>
          <a:p>
            <a:pPr algn="ctr">
              <a:spcBef>
                <a:spcPts val="200"/>
              </a:spcBef>
              <a:defRPr b="1" sz="1050">
                <a:solidFill>
                  <a:srgbClr val="BA2626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950">
                <a:solidFill>
                  <a:srgbClr val="0E4A7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b="1" sz="950">
                <a:solidFill>
                  <a:srgbClr val="0E1E36"/>
                </a:solidFill>
                <a:latin typeface="Arial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E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2881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212080" cy="502920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BA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BA2626"/>
                </a:solidFill>
                <a:latin typeface="Arial"/>
              </a:defRPr>
            </a:pPr>
            <a:r>
              <a:t>PROTOTYPE FEASIBILITY</a:t>
            </a:r>
          </a:p>
          <a:p>
            <a:pPr>
              <a:spcBef>
                <a:spcPts val="800"/>
              </a:spcBef>
              <a:defRPr b="1" sz="1050">
                <a:solidFill>
                  <a:srgbClr val="0E1E36"/>
                </a:solidFill>
                <a:latin typeface="Arial"/>
              </a:defRPr>
            </a:pPr>
            <a:r>
              <a:t>• Explainable Rule-Based Intelligence:</a:t>
            </a:r>
          </a:p>
          <a:p>
            <a:pPr>
              <a:spcBef>
                <a:spcPts val="200"/>
              </a:spcBef>
              <a:defRPr sz="950">
                <a:solidFill>
                  <a:srgbClr val="141821"/>
                </a:solidFill>
                <a:latin typeface="Arial"/>
              </a:defRPr>
            </a:pPr>
            <a:r>
              <a:t>Our current functional prototype relies on transparent, computationally light heuristics. This removes black-box ML complexities and runs with millisecond response times directly on resource-efficient endpoints.</a:t>
            </a:r>
          </a:p>
          <a:p>
            <a:pPr>
              <a:spcBef>
                <a:spcPts val="800"/>
              </a:spcBef>
              <a:defRPr b="1" sz="1050">
                <a:solidFill>
                  <a:srgbClr val="0E1E36"/>
                </a:solidFill>
                <a:latin typeface="Arial"/>
              </a:defRPr>
            </a:pPr>
            <a:r>
              <a:t>• Data Ingestion Viability:</a:t>
            </a:r>
          </a:p>
          <a:p>
            <a:pPr>
              <a:spcBef>
                <a:spcPts val="200"/>
              </a:spcBef>
              <a:defRPr sz="950">
                <a:solidFill>
                  <a:srgbClr val="141821"/>
                </a:solidFill>
                <a:latin typeface="Arial"/>
              </a:defRPr>
            </a:pPr>
            <a:r>
              <a:t>Utilizes existing, structured IMD weather API streams &amp; client GPS telemetry. Normalizes variables without infrastructure overhauls.</a:t>
            </a:r>
          </a:p>
          <a:p>
            <a:pPr>
              <a:spcBef>
                <a:spcPts val="800"/>
              </a:spcBef>
              <a:defRPr b="1" sz="1050">
                <a:solidFill>
                  <a:srgbClr val="0E1E36"/>
                </a:solidFill>
                <a:latin typeface="Arial"/>
              </a:defRPr>
            </a:pPr>
            <a:r>
              <a:t>• Client Performance &amp; Privacy:</a:t>
            </a:r>
          </a:p>
          <a:p>
            <a:pPr>
              <a:spcBef>
                <a:spcPts val="200"/>
              </a:spcBef>
              <a:defRPr sz="950">
                <a:solidFill>
                  <a:srgbClr val="141821"/>
                </a:solidFill>
                <a:latin typeface="Arial"/>
              </a:defRPr>
            </a:pPr>
            <a:r>
              <a:t>All scoring algorithms run client-side with zero cloud compute costs, retaining personal routines in secure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34440"/>
            <a:ext cx="5577840" cy="5029200"/>
          </a:xfrm>
          <a:prstGeom prst="roundRect">
            <a:avLst/>
          </a:prstGeom>
          <a:solidFill>
            <a:srgbClr val="0E1E36"/>
          </a:solidFill>
          <a:ln>
            <a:solidFill>
              <a:srgbClr val="0E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93C5FD"/>
                </a:solidFill>
                <a:latin typeface="Arial"/>
              </a:defRPr>
            </a:pPr>
            <a:r>
              <a:t>CHALLENGES, MITIGATIONS &amp; ML ROADMAP</a:t>
            </a:r>
          </a:p>
          <a:p>
            <a:pPr>
              <a:spcBef>
                <a:spcPts val="800"/>
              </a:spcBef>
              <a:defRPr b="1" sz="1050">
                <a:solidFill>
                  <a:srgbClr val="FDE68A"/>
                </a:solidFill>
                <a:latin typeface="Arial"/>
              </a:defRPr>
            </a:pPr>
            <a:r>
              <a:t>• Challenge 1: Personalization Cold Start</a:t>
            </a:r>
          </a:p>
          <a:p>
            <a:pPr>
              <a:spcBef>
                <a:spcPts val="2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- Mitigation: Initial layout loads using generalized, highly accurate regional defaults based on timezone and location context until user sets their explicit persona.</a:t>
            </a:r>
          </a:p>
          <a:p>
            <a:pPr>
              <a:spcBef>
                <a:spcPts val="800"/>
              </a:spcBef>
              <a:defRPr b="1" sz="1050">
                <a:solidFill>
                  <a:srgbClr val="FDE68A"/>
                </a:solidFill>
                <a:latin typeface="Arial"/>
              </a:defRPr>
            </a:pPr>
            <a:r>
              <a:t>• Challenge 2: UI Lag in Dynamic Layout Re-ordering</a:t>
            </a:r>
          </a:p>
          <a:p>
            <a:pPr>
              <a:spcBef>
                <a:spcPts val="2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- Mitigation: Reactive state management caches relevance scores for offline rendering, avoiding UI stutters.</a:t>
            </a:r>
          </a:p>
          <a:p>
            <a:pPr>
              <a:spcBef>
                <a:spcPts val="800"/>
              </a:spcBef>
              <a:defRPr b="1" sz="1050">
                <a:solidFill>
                  <a:srgbClr val="FDE68A"/>
                </a:solidFill>
                <a:latin typeface="Arial"/>
              </a:defRPr>
            </a:pPr>
            <a:r>
              <a:t>• Future ML Path (Planned Scope):</a:t>
            </a:r>
          </a:p>
          <a:p>
            <a:pPr>
              <a:spcBef>
                <a:spcPts val="200"/>
              </a:spcBef>
              <a:defRPr sz="950">
                <a:solidFill>
                  <a:srgbClr val="F5F7FA"/>
                </a:solidFill>
                <a:latin typeface="Arial"/>
              </a:defRPr>
            </a:pPr>
            <a:r>
              <a:t>As secure, anonymized user interaction data accumulates, future versions can transition to a lightweight on-device ML model for hyper-personalized ranking.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E1E36"/>
                </a:solidFill>
                <a:latin typeface="Arial"/>
              </a:defRPr>
            </a:pPr>
            <a:r>
              <a:t>AlphaStream</a:t>
            </a:r>
            <a:br/>
            <a:r>
              <a:t>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E1E36"/>
                </a:solidFill>
                <a:latin typeface="Times New Roman"/>
              </a:defRPr>
            </a:pPr>
            <a:r>
              <a:t>TRANSFORMING WEATHER-TO-ACTION FOR VULNERABLE COHORTS</a:t>
            </a:r>
          </a:p>
          <a:p>
            <a:pPr algn="ctr">
              <a:spcBef>
                <a:spcPts val="200"/>
              </a:spcBef>
              <a:defRPr b="1" sz="1050">
                <a:solidFill>
                  <a:srgbClr val="BA2626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950">
                <a:solidFill>
                  <a:srgbClr val="0E4A7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b="1" sz="950">
                <a:solidFill>
                  <a:srgbClr val="0E1E36"/>
                </a:solidFill>
                <a:latin typeface="Arial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E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2881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26517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BA2626"/>
                </a:solidFill>
                <a:latin typeface="Arial"/>
              </a:defRPr>
            </a:pPr>
            <a:r>
              <a:t>SPORTSPERSONS</a:t>
            </a:r>
          </a:p>
          <a:p>
            <a:pPr>
              <a:spcBef>
                <a:spcPts val="1600"/>
              </a:spcBef>
              <a:defRPr sz="1000">
                <a:solidFill>
                  <a:srgbClr val="141821"/>
                </a:solidFill>
                <a:latin typeface="Arial"/>
              </a:defRPr>
            </a:pPr>
            <a:r>
              <a:t>High heat stress &amp; WBGT indices trigger physical activity alerts, avoiding heatstroke and optimizing peak athletic training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280160"/>
            <a:ext cx="26517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146304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BA2626"/>
                </a:solidFill>
                <a:latin typeface="Arial"/>
              </a:defRPr>
            </a:pPr>
            <a:r>
              <a:t>DAILY COMMUTERS</a:t>
            </a:r>
          </a:p>
          <a:p>
            <a:pPr>
              <a:spcBef>
                <a:spcPts val="1600"/>
              </a:spcBef>
              <a:defRPr sz="1000">
                <a:solidFill>
                  <a:srgbClr val="141821"/>
                </a:solidFill>
                <a:latin typeface="Arial"/>
              </a:defRPr>
            </a:pPr>
            <a:r>
              <a:t>Direct rain-to-travel impacts, severe winds, and UV alerts map to customized clothing/transit recommendations.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26517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BA2626"/>
                </a:solidFill>
                <a:latin typeface="Arial"/>
              </a:defRPr>
            </a:pPr>
            <a:r>
              <a:t>SENIOR CITIZENS</a:t>
            </a:r>
          </a:p>
          <a:p>
            <a:pPr>
              <a:spcBef>
                <a:spcPts val="1600"/>
              </a:spcBef>
              <a:defRPr sz="1000">
                <a:solidFill>
                  <a:srgbClr val="141821"/>
                </a:solidFill>
                <a:latin typeface="Arial"/>
              </a:defRPr>
            </a:pPr>
            <a:r>
              <a:t>Dedicated medical alerts map extreme temperatures and poor AQI values to safety warnings, protecting 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1280160"/>
            <a:ext cx="26517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79" y="146304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BA2626"/>
                </a:solidFill>
                <a:latin typeface="Arial"/>
              </a:defRPr>
            </a:pPr>
            <a:r>
              <a:t>FARMERS / OUTDOOR</a:t>
            </a:r>
          </a:p>
          <a:p>
            <a:pPr>
              <a:spcBef>
                <a:spcPts val="1600"/>
              </a:spcBef>
              <a:defRPr sz="1000">
                <a:solidFill>
                  <a:srgbClr val="141821"/>
                </a:solidFill>
                <a:latin typeface="Arial"/>
              </a:defRPr>
            </a:pPr>
            <a:r>
              <a:t>Translates dew point and humidity models to crop protection tasks, enhancing resource planning.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349240"/>
            <a:ext cx="10972800" cy="1005840"/>
          </a:xfrm>
          <a:prstGeom prst="roundRect">
            <a:avLst/>
          </a:prstGeom>
          <a:solidFill>
            <a:srgbClr val="0E1E36"/>
          </a:solidFill>
          <a:ln>
            <a:solidFill>
              <a:srgbClr val="0E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93C5FD"/>
                </a:solidFill>
                <a:latin typeface="Arial"/>
              </a:defRPr>
            </a:pPr>
            <a:r>
              <a:t>BROADER IMPACT &amp; BENEFITS (Social, Economic &amp; Environmental Value)</a:t>
            </a:r>
          </a:p>
          <a:p>
            <a:pPr>
              <a:spcBef>
                <a:spcPts val="200"/>
              </a:spcBef>
              <a:defRPr sz="880">
                <a:solidFill>
                  <a:srgbClr val="F5F7FA"/>
                </a:solidFill>
                <a:latin typeface="Arial"/>
              </a:defRPr>
            </a:pPr>
            <a:r>
              <a:t>• Social: Eliminates cognitive fatigue; protects vulnerable citizens.</a:t>
            </a:r>
            <a:br/>
            <a:r>
              <a:t>• Economic: Prevents agricultural input waste; reduces transit accidents.</a:t>
            </a:r>
            <a:br/>
            <a:r>
              <a:t>• Environmental: Promotes efficient water conservation via smart precipitation-synced irrigation.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E1E36"/>
                </a:solidFill>
                <a:latin typeface="Arial"/>
              </a:defRPr>
            </a:pPr>
            <a:r>
              <a:t>AlphaStream</a:t>
            </a:r>
            <a:br/>
            <a:r>
              <a:t>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E1E36"/>
                </a:solidFill>
                <a:latin typeface="Times New Roman"/>
              </a:defRPr>
            </a:pPr>
            <a:r>
              <a:t>GROUNDING RESEARCH &amp; FUTURE VISION</a:t>
            </a:r>
          </a:p>
          <a:p>
            <a:pPr algn="ctr">
              <a:spcBef>
                <a:spcPts val="200"/>
              </a:spcBef>
              <a:defRPr b="1" sz="1050">
                <a:solidFill>
                  <a:srgbClr val="BA2626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950">
                <a:solidFill>
                  <a:srgbClr val="0E4A7B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b="1" sz="950">
                <a:solidFill>
                  <a:srgbClr val="0E1E36"/>
                </a:solidFill>
                <a:latin typeface="Arial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E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2881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3931920"/>
          </a:xfrm>
          <a:prstGeom prst="roundRect">
            <a:avLst/>
          </a:prstGeom>
          <a:solidFill>
            <a:srgbClr val="0E1E36"/>
          </a:solidFill>
          <a:ln>
            <a:solidFill>
              <a:srgbClr val="0E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DA4AF"/>
                </a:solidFill>
                <a:latin typeface="Arial"/>
              </a:defRPr>
            </a:pPr>
            <a:r>
              <a:t>RESEARCH &amp; SCIENTIFIC CITATIONS</a:t>
            </a:r>
          </a:p>
          <a:p>
            <a:pPr>
              <a:spcBef>
                <a:spcPts val="800"/>
              </a:spcBef>
              <a:defRPr sz="1050">
                <a:solidFill>
                  <a:srgbClr val="F5F7FA"/>
                </a:solidFill>
                <a:latin typeface="Arial"/>
              </a:defRPr>
            </a:pPr>
            <a:r>
              <a:t>1. India Meteorological Department (IMD) - Raw weather alert APIs, district-level forecasting models, and standard regional nowcast metadata standards.</a:t>
            </a:r>
          </a:p>
          <a:p>
            <a:pPr>
              <a:spcBef>
                <a:spcPts val="800"/>
              </a:spcBef>
              <a:defRPr sz="1050">
                <a:solidFill>
                  <a:srgbClr val="F5F7FA"/>
                </a:solidFill>
                <a:latin typeface="Arial"/>
              </a:defRPr>
            </a:pPr>
            <a:r>
              <a:t>2. Liljegren et al. (2008) - 'An Algorithm for Calculating Wet Bulb Globe Temperature (WBGT) from Standard Meteorological Measurements' (Physical model basis).</a:t>
            </a:r>
          </a:p>
          <a:p>
            <a:pPr>
              <a:spcBef>
                <a:spcPts val="800"/>
              </a:spcBef>
              <a:defRPr sz="1050">
                <a:solidFill>
                  <a:srgbClr val="F5F7FA"/>
                </a:solidFill>
                <a:latin typeface="Arial"/>
              </a:defRPr>
            </a:pPr>
            <a:r>
              <a:t>3. Australian Government Bureau of Meteorology (BOM) &amp; ECMWF Thermofeel - Analytical non-iterative approximations of outdoor apparent temperature indices.</a:t>
            </a:r>
          </a:p>
          <a:p>
            <a:pPr>
              <a:spcBef>
                <a:spcPts val="800"/>
              </a:spcBef>
              <a:defRPr sz="1050">
                <a:solidFill>
                  <a:srgbClr val="F5F7FA"/>
                </a:solidFill>
                <a:latin typeface="Arial"/>
              </a:defRPr>
            </a:pPr>
            <a:r>
              <a:t>4. ISO 7243:2017 - Ergonomics of the physical environment — Assessment of heat stress using the WBGT index for human physical resilience.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349240"/>
            <a:ext cx="10972800" cy="914400"/>
          </a:xfrm>
          <a:prstGeom prst="roundRect">
            <a:avLst/>
          </a:prstGeom>
          <a:solidFill>
            <a:srgbClr val="BA2626"/>
          </a:solidFill>
          <a:ln>
            <a:solidFill>
              <a:srgbClr val="BA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Arial"/>
              </a:defRPr>
            </a:pPr>
            <a:r>
              <a:t>FROM A WEATHER DASHBOARD TO A PERSONALIZED WEATHER DECISION ASSISTANT.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